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3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97" d="100"/>
          <a:sy n="97" d="100"/>
        </p:scale>
        <p:origin x="68" y="2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garika patha" userId="eab92d5814933e2d" providerId="LiveId" clId="{A72F5C19-6718-41FC-8EB0-BB27534C34C8}"/>
    <pc:docChg chg="undo custSel modSld">
      <pc:chgData name="sagarika patha" userId="eab92d5814933e2d" providerId="LiveId" clId="{A72F5C19-6718-41FC-8EB0-BB27534C34C8}" dt="2024-04-29T01:11:02.224" v="42" actId="123"/>
      <pc:docMkLst>
        <pc:docMk/>
      </pc:docMkLst>
      <pc:sldChg chg="modSp mod">
        <pc:chgData name="sagarika patha" userId="eab92d5814933e2d" providerId="LiveId" clId="{A72F5C19-6718-41FC-8EB0-BB27534C34C8}" dt="2024-04-29T01:08:56.752" v="36" actId="20577"/>
        <pc:sldMkLst>
          <pc:docMk/>
          <pc:sldMk cId="1946052283" sldId="256"/>
        </pc:sldMkLst>
        <pc:spChg chg="mod">
          <ac:chgData name="sagarika patha" userId="eab92d5814933e2d" providerId="LiveId" clId="{A72F5C19-6718-41FC-8EB0-BB27534C34C8}" dt="2024-04-29T01:08:56.752" v="36" actId="20577"/>
          <ac:spMkLst>
            <pc:docMk/>
            <pc:sldMk cId="1946052283" sldId="256"/>
            <ac:spMk id="3" creationId="{EED7FA52-87C5-573F-C13D-BD3CD5F96953}"/>
          </ac:spMkLst>
        </pc:spChg>
      </pc:sldChg>
      <pc:sldChg chg="modSp mod">
        <pc:chgData name="sagarika patha" userId="eab92d5814933e2d" providerId="LiveId" clId="{A72F5C19-6718-41FC-8EB0-BB27534C34C8}" dt="2024-04-29T01:10:59.759" v="41" actId="123"/>
        <pc:sldMkLst>
          <pc:docMk/>
          <pc:sldMk cId="1720104027" sldId="257"/>
        </pc:sldMkLst>
        <pc:spChg chg="mod">
          <ac:chgData name="sagarika patha" userId="eab92d5814933e2d" providerId="LiveId" clId="{A72F5C19-6718-41FC-8EB0-BB27534C34C8}" dt="2024-04-29T01:10:59.759" v="41" actId="123"/>
          <ac:spMkLst>
            <pc:docMk/>
            <pc:sldMk cId="1720104027" sldId="257"/>
            <ac:spMk id="3" creationId="{3FFD5CAA-D486-E6A0-1474-A6096CD0FD15}"/>
          </ac:spMkLst>
        </pc:spChg>
      </pc:sldChg>
      <pc:sldChg chg="modSp mod">
        <pc:chgData name="sagarika patha" userId="eab92d5814933e2d" providerId="LiveId" clId="{A72F5C19-6718-41FC-8EB0-BB27534C34C8}" dt="2024-04-29T01:11:02.224" v="42" actId="123"/>
        <pc:sldMkLst>
          <pc:docMk/>
          <pc:sldMk cId="2723364727" sldId="258"/>
        </pc:sldMkLst>
        <pc:spChg chg="mod">
          <ac:chgData name="sagarika patha" userId="eab92d5814933e2d" providerId="LiveId" clId="{A72F5C19-6718-41FC-8EB0-BB27534C34C8}" dt="2024-04-29T01:11:02.224" v="42" actId="123"/>
          <ac:spMkLst>
            <pc:docMk/>
            <pc:sldMk cId="2723364727" sldId="258"/>
            <ac:spMk id="3" creationId="{5639250B-3A44-896C-BA39-C6DAACE769C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3806EA8E-5281-46A1-9B44-2BAADC1CBBE1}" type="datetimeFigureOut">
              <a:rPr lang="en-US" smtClean="0"/>
              <a:t>4/28/2024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15236F5B-BC60-4922-89AA-C8460F7B2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449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6EA8E-5281-46A1-9B44-2BAADC1CBBE1}" type="datetimeFigureOut">
              <a:rPr lang="en-US" smtClean="0"/>
              <a:t>4/28/2024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36F5B-BC60-4922-89AA-C8460F7B2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660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6EA8E-5281-46A1-9B44-2BAADC1CBBE1}" type="datetimeFigureOut">
              <a:rPr lang="en-US" smtClean="0"/>
              <a:t>4/28/2024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36F5B-BC60-4922-89AA-C8460F7B2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39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6EA8E-5281-46A1-9B44-2BAADC1CBBE1}" type="datetimeFigureOut">
              <a:rPr lang="en-US" smtClean="0"/>
              <a:t>4/28/2024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36F5B-BC60-4922-89AA-C8460F7B2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579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6EA8E-5281-46A1-9B44-2BAADC1CBBE1}" type="datetimeFigureOut">
              <a:rPr lang="en-US" smtClean="0"/>
              <a:t>4/28/2024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36F5B-BC60-4922-89AA-C8460F7B2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12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6EA8E-5281-46A1-9B44-2BAADC1CBBE1}" type="datetimeFigureOut">
              <a:rPr lang="en-US" smtClean="0"/>
              <a:t>4/28/2024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36F5B-BC60-4922-89AA-C8460F7B2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855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6EA8E-5281-46A1-9B44-2BAADC1CBBE1}" type="datetimeFigureOut">
              <a:rPr lang="en-US" smtClean="0"/>
              <a:t>4/28/2024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36F5B-BC60-4922-89AA-C8460F7B2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806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6EA8E-5281-46A1-9B44-2BAADC1CBBE1}" type="datetimeFigureOut">
              <a:rPr lang="en-US" smtClean="0"/>
              <a:t>4/28/2024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36F5B-BC60-4922-89AA-C8460F7B2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982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6EA8E-5281-46A1-9B44-2BAADC1CBBE1}" type="datetimeFigureOut">
              <a:rPr lang="en-US" smtClean="0"/>
              <a:t>4/28/2024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36F5B-BC60-4922-89AA-C8460F7B2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211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6EA8E-5281-46A1-9B44-2BAADC1CBBE1}" type="datetimeFigureOut">
              <a:rPr lang="en-US" smtClean="0"/>
              <a:t>4/28/2024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36F5B-BC60-4922-89AA-C8460F7B2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264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6EA8E-5281-46A1-9B44-2BAADC1CBBE1}" type="datetimeFigureOut">
              <a:rPr lang="en-US" smtClean="0"/>
              <a:t>4/28/2024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36F5B-BC60-4922-89AA-C8460F7B2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5137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6EA8E-5281-46A1-9B44-2BAADC1CBBE1}" type="datetimeFigureOut">
              <a:rPr lang="en-US" smtClean="0"/>
              <a:t>4/28/2024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36F5B-BC60-4922-89AA-C8460F7B2FB5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540154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6EA8E-5281-46A1-9B44-2BAADC1CBBE1}" type="datetimeFigureOut">
              <a:rPr lang="en-US" smtClean="0"/>
              <a:t>4/28/2024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36F5B-BC60-4922-89AA-C8460F7B2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1750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6EA8E-5281-46A1-9B44-2BAADC1CBBE1}" type="datetimeFigureOut">
              <a:rPr lang="en-US" smtClean="0"/>
              <a:t>4/28/2024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36F5B-BC60-4922-89AA-C8460F7B2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9624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6EA8E-5281-46A1-9B44-2BAADC1CBBE1}" type="datetimeFigureOut">
              <a:rPr lang="en-US" smtClean="0"/>
              <a:t>4/28/2024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36F5B-BC60-4922-89AA-C8460F7B2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013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6EA8E-5281-46A1-9B44-2BAADC1CBBE1}" type="datetimeFigureOut">
              <a:rPr lang="en-US" smtClean="0"/>
              <a:t>4/28/2024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36F5B-BC60-4922-89AA-C8460F7B2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2171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6EA8E-5281-46A1-9B44-2BAADC1CBBE1}" type="datetimeFigureOut">
              <a:rPr lang="en-US" smtClean="0"/>
              <a:t>4/28/2024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236F5B-BC60-4922-89AA-C8460F7B2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993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06EA8E-5281-46A1-9B44-2BAADC1CBBE1}" type="datetimeFigureOut">
              <a:rPr lang="en-US" smtClean="0"/>
              <a:t>4/28/2024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236F5B-BC60-4922-89AA-C8460F7B2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73635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92" r:id="rId1"/>
    <p:sldLayoutId id="2147483893" r:id="rId2"/>
    <p:sldLayoutId id="2147483894" r:id="rId3"/>
    <p:sldLayoutId id="2147483895" r:id="rId4"/>
    <p:sldLayoutId id="2147483896" r:id="rId5"/>
    <p:sldLayoutId id="2147483897" r:id="rId6"/>
    <p:sldLayoutId id="2147483898" r:id="rId7"/>
    <p:sldLayoutId id="2147483899" r:id="rId8"/>
    <p:sldLayoutId id="2147483900" r:id="rId9"/>
    <p:sldLayoutId id="2147483901" r:id="rId10"/>
    <p:sldLayoutId id="2147483902" r:id="rId11"/>
    <p:sldLayoutId id="2147483903" r:id="rId12"/>
    <p:sldLayoutId id="2147483904" r:id="rId13"/>
    <p:sldLayoutId id="2147483905" r:id="rId14"/>
    <p:sldLayoutId id="2147483906" r:id="rId15"/>
    <p:sldLayoutId id="2147483907" r:id="rId16"/>
    <p:sldLayoutId id="2147483908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70014-BC6D-0CE9-32C0-D091E8B4D4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Deepfake Detection Model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D7FA52-87C5-573F-C13D-BD3CD5F969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MSV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28 apr, 2024</a:t>
            </a:r>
          </a:p>
        </p:txBody>
      </p:sp>
    </p:spTree>
    <p:extLst>
      <p:ext uri="{BB962C8B-B14F-4D97-AF65-F5344CB8AC3E}">
        <p14:creationId xmlns:p14="http://schemas.microsoft.com/office/powerpoint/2010/main" val="1946052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ABB69-D264-68CB-DA7B-2CF966C51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Deepfake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D5CAA-D486-E6A0-1474-A6096CD0FD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257799" cy="4450289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Objective. Develop high precision detectors using deep learning to differentiate in between real and fake images reliably.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Challenges. Deepfakes threaten identity theft, privacy violations and spread misinformation, impacting journalism, entertainment and national security.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Goal. Implement advanced AI algorithms for the detection of deepfakes with higher precision, ensuring the integrity of media.</a:t>
            </a:r>
          </a:p>
        </p:txBody>
      </p:sp>
      <p:pic>
        <p:nvPicPr>
          <p:cNvPr id="3074" name="Picture 2" descr="monitor showing Java programming">
            <a:extLst>
              <a:ext uri="{FF2B5EF4-FFF2-40B4-BE49-F238E27FC236}">
                <a16:creationId xmlns:a16="http://schemas.microsoft.com/office/drawing/2014/main" id="{12E1F36D-E957-0768-0E2C-1719A0935B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2675" y="1961357"/>
            <a:ext cx="5472933" cy="4450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0104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B7080-F729-CD0E-EF38-A26F13564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39250B-3A44-896C-BA39-C6DAACE769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62847" cy="3810404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source. Utilized Kaggle’s real vs. fake faces dataset for diverse training data.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steps. Images standardized to 64x64 pixels using OpenCV in order to ensure uniformity and better training.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 Assignments. Automated sorting and labelling of images into real(0) and fake (1) in order to facilitate efficient model training and learning.</a:t>
            </a:r>
          </a:p>
        </p:txBody>
      </p:sp>
      <p:pic>
        <p:nvPicPr>
          <p:cNvPr id="4100" name="Picture 4" descr="laptop computer on glass-top table">
            <a:extLst>
              <a:ext uri="{FF2B5EF4-FFF2-40B4-BE49-F238E27FC236}">
                <a16:creationId xmlns:a16="http://schemas.microsoft.com/office/drawing/2014/main" id="{49502E47-7A11-74CA-55E5-57A0478D27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0230" y="1708958"/>
            <a:ext cx="5515549" cy="3927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3364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5A821-B1BD-1AB8-1B57-34F078014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9FB93-7707-01E3-066B-FEF5D863A8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47211" cy="3644150"/>
          </a:xfrm>
        </p:spPr>
        <p:txBody>
          <a:bodyPr>
            <a:normAutofit fontScale="85000"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Convolutional layers. Extract spatial features from images, crucial for recognizing manipulated areas.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Max-Pooling Layers. Reduce dimensionality while retaining important features, helping in computational efficiency.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Dense and Dropout layers. Classify images and manage overfitting by deactivating neurons randomly to improve generalization.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 descr="Matrix movie still">
            <a:extLst>
              <a:ext uri="{FF2B5EF4-FFF2-40B4-BE49-F238E27FC236}">
                <a16:creationId xmlns:a16="http://schemas.microsoft.com/office/drawing/2014/main" id="{65F8068F-9642-21D5-8982-EE130C17B2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825624"/>
            <a:ext cx="5762601" cy="3843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0259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BB7CC-D8F7-5AA2-B159-79B1758CF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Splitting and Model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91F40-F75F-06C3-2CAF-74FC166CD1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4400550" cy="4222750"/>
          </a:xfrm>
        </p:spPr>
        <p:txBody>
          <a:bodyPr>
            <a:normAutofit fontScale="85000"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set.  Primary dataset which is used to train the model, exposing it to diverse scenarios of real and fake images.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set. Comprises  15% of the training data, used in monitoring and fine-tuning the model development.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set. Critical for evaluation of the models performance on new, unseen data, ensuring its effectiveness in the real-world applications.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50" name="Picture 6" descr="source code screengrab">
            <a:extLst>
              <a:ext uri="{FF2B5EF4-FFF2-40B4-BE49-F238E27FC236}">
                <a16:creationId xmlns:a16="http://schemas.microsoft.com/office/drawing/2014/main" id="{11C1B6DA-E4B3-0F0A-1169-0D3BDD7967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6930" y="1825625"/>
            <a:ext cx="5724698" cy="3818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5837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C63F9-3945-4F6F-27A4-2A773BA87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 Tuning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193D6-5B6E-67F8-15B5-C15A837C37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76876" cy="3926782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Search Method. A systematic approach to explore hyperparameter values in order to find the optimal settings for accuracy and generalization.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 Goals. Focus on achievement of high accuracy and generalization by selecting the best hyperparameter combinations through an extensive testing.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170" name="Picture 2" descr="Parallel Hyperparameter Tuning in ...">
            <a:extLst>
              <a:ext uri="{FF2B5EF4-FFF2-40B4-BE49-F238E27FC236}">
                <a16:creationId xmlns:a16="http://schemas.microsoft.com/office/drawing/2014/main" id="{0A71C184-A6AB-077D-1C0F-D87396340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6733" y="1745975"/>
            <a:ext cx="4421317" cy="2904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17055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C29DB-89C4-7204-BCD2-B82F0B620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 and Data Augmentation.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5B997-B04B-6099-618B-A8AA9FFBEC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95851" cy="3893531"/>
          </a:xfrm>
        </p:spPr>
        <p:txBody>
          <a:bodyPr>
            <a:normAutofit fontScale="925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Augmentation. Applies transformations like rotation, shifting and zooming to training images in order to enhance the models fault and generalization.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and Epoch Training. Utilizes batch training in order to optimize learning and memory usage, with multiple epochs in order to ensure thorough learning and validation.</a:t>
            </a:r>
          </a:p>
        </p:txBody>
      </p:sp>
      <p:pic>
        <p:nvPicPr>
          <p:cNvPr id="8202" name="Picture 10" descr="Text data augmentation with Back ...">
            <a:extLst>
              <a:ext uri="{FF2B5EF4-FFF2-40B4-BE49-F238E27FC236}">
                <a16:creationId xmlns:a16="http://schemas.microsoft.com/office/drawing/2014/main" id="{C34FF0ED-5383-6EB0-AC94-22021B3B28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7134" y="1711786"/>
            <a:ext cx="3893531" cy="3893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99141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F4078-DC2C-6D13-6358-49B123A8F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8FE3B-A175-AB81-2448-2744B77A88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95109" cy="435133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Loss and Accuracy. Reported test loss of 0.691994 and accuracy of approximately 53%; indicating areas for improvement.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Methods. Utilized a held-out test set in order to provide a non-biased assessment of the model’s real-world applicability and performance.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2" name="Picture 4" descr="black flat screen computer monitor">
            <a:extLst>
              <a:ext uri="{FF2B5EF4-FFF2-40B4-BE49-F238E27FC236}">
                <a16:creationId xmlns:a16="http://schemas.microsoft.com/office/drawing/2014/main" id="{5D0FD1D0-E727-A10D-4643-23B0F29407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6065" y="1825625"/>
            <a:ext cx="4387735" cy="4158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69838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DD40A-1F59-A78B-36FD-BE099DA34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0CCA6-BE5D-2468-672D-96694D96C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12971" cy="435133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Accuracy. Achieved up to 57% during hyperparameter tuning, indicating potential areas for enhancement.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Performance. Test accuracy of over 53% highlights the model’s capability to generalize from the training data to new, unseen scenarios.</a:t>
            </a:r>
          </a:p>
        </p:txBody>
      </p:sp>
      <p:pic>
        <p:nvPicPr>
          <p:cNvPr id="1026" name="Picture 2" descr="graphs of performance analytics on a laptop screen">
            <a:extLst>
              <a:ext uri="{FF2B5EF4-FFF2-40B4-BE49-F238E27FC236}">
                <a16:creationId xmlns:a16="http://schemas.microsoft.com/office/drawing/2014/main" id="{D6DDBA66-FC37-547C-A3DA-7DD51A1D7F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2933" y="1986880"/>
            <a:ext cx="5412971" cy="3610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12163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0997F-420C-728E-7328-8B30B663C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 for Improvement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ECFA91-A5B7-F61E-B2B6-990C99A9F1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 Optimization. Refining convolutional and dense layer parameters to enhance model accuracy and reduce overfitting.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Adopting New Techniques. Suggests the use of ensemble learning and adversarial training to enhance robustness and defend against sophisticated attacks.</a:t>
            </a:r>
          </a:p>
        </p:txBody>
      </p:sp>
    </p:spTree>
    <p:extLst>
      <p:ext uri="{BB962C8B-B14F-4D97-AF65-F5344CB8AC3E}">
        <p14:creationId xmlns:p14="http://schemas.microsoft.com/office/powerpoint/2010/main" val="28724428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83DBF-773B-8530-81F8-7AF4857AE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Convolutional Neural Network Layers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47F17-E02F-1AEC-1386-A0A8CCD1AC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3594272"/>
          </a:xfrm>
        </p:spPr>
        <p:txBody>
          <a:bodyPr>
            <a:normAutofit fontScale="925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 Details. Conv2D layers for initial feature extraction; MaxPooling2D layers reduce spatial dimensions, preserving essential features.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Spatial Feature Recognition. These layers detect crucial visual elements like edges and textures, integral for distinguishing real from fake images.</a:t>
            </a:r>
          </a:p>
        </p:txBody>
      </p:sp>
      <p:pic>
        <p:nvPicPr>
          <p:cNvPr id="9218" name="Picture 2" descr="a computer circuit board with a brain on it">
            <a:extLst>
              <a:ext uri="{FF2B5EF4-FFF2-40B4-BE49-F238E27FC236}">
                <a16:creationId xmlns:a16="http://schemas.microsoft.com/office/drawing/2014/main" id="{3D61C81C-25FE-8EDC-7C3B-A9BB3016F8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9471" y="1690688"/>
            <a:ext cx="5262000" cy="3594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55258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91B02-5645-FBFD-5882-DB94C628F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Dense and Dropout Layers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35385-52AA-DA1B-F26E-E59EB63677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Functionality. Dense layers classify images based on learned features, while dropout layers randomly deactivate the neurons in order to prevent overfitting.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Generalization. Dropout enhances the model robustness, improving the model’s ability in generalize from training data to unseen data. </a:t>
            </a:r>
          </a:p>
        </p:txBody>
      </p:sp>
    </p:spTree>
    <p:extLst>
      <p:ext uri="{BB962C8B-B14F-4D97-AF65-F5344CB8AC3E}">
        <p14:creationId xmlns:p14="http://schemas.microsoft.com/office/powerpoint/2010/main" val="33460372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07F2C-4222-8078-4C25-E4C32BEED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Optimization Techniques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17BCB-8266-F6A5-5AA4-06D34E992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Dropout Regularization. Specific dropout rates were used to effectively minimize overfitting, enhancing the model’s ability in performing well on new, unseen data.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 Tuning. Utilized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Tuner with Random Search to systematically explore and optimize convolutional and dense layer parameters for better performance.</a:t>
            </a:r>
          </a:p>
        </p:txBody>
      </p:sp>
    </p:spTree>
    <p:extLst>
      <p:ext uri="{BB962C8B-B14F-4D97-AF65-F5344CB8AC3E}">
        <p14:creationId xmlns:p14="http://schemas.microsoft.com/office/powerpoint/2010/main" val="10842299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DA0AF-ADD2-E61D-AC62-0374C170C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72971-3DA6-D901-AA41-055AD8613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Outcomes. Developed a model with a 57% validation accuracy which is capable of differentiating real form fake images.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 for future work. Emphasize hyperparameter refinement, advanced regularization and exploration of ensemble methods in order to enhance the model’s performance.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Continued Importance. Highlighted the necessity of continuous innovations in order to counter evolving deepfake technologies and maintain media integrity. </a:t>
            </a:r>
          </a:p>
        </p:txBody>
      </p:sp>
    </p:spTree>
    <p:extLst>
      <p:ext uri="{BB962C8B-B14F-4D97-AF65-F5344CB8AC3E}">
        <p14:creationId xmlns:p14="http://schemas.microsoft.com/office/powerpoint/2010/main" val="31672317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78E73-2D1D-5A5D-19DF-C6FA39361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E6E47D-4819-F15F-C9E0-45018D0B00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Almars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 M. (2021). Deepfakes detection techniques using deep learning: a survey. Journal of Computer and Communications, 9(05), 20-35. 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Dolhansky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B.,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Bitton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J.,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Pflaum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B., Lu, J., Howes, R., Wang, M., &amp; Ferrer, C. C. (2020). The deepfake detection challenge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dfdc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dataset—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arXiv:2006.07397.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Dong, S., Wang, J., Liang, J., Fan, H., &amp; Ji, R. (2022, October). I am explaining deepfake detection by analyzing image matching. In European Conference on Computer Vision (pp. 18-35). Cham: Springer Nature Switzerland.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Kwon, P., You, J., Nam, G., Park, S., &amp; Chae, G. (2021).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Kodf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large-scale Korean deepfake detection dataset. In Proceedings of the IEEE/CVF International Conference on Computer Vision (pp. 10744–10753).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Liao, L., Li, H., Shang, W., &amp; Ma, L. (2022). An empirical study of the impact of hyperparameter tuning and model optimization on the performance properties of deep neural networks. ACM Transactions on Software Engineering and Methodology (TOSEM), 31(3), 1-40.</a:t>
            </a:r>
          </a:p>
        </p:txBody>
      </p:sp>
    </p:spTree>
    <p:extLst>
      <p:ext uri="{BB962C8B-B14F-4D97-AF65-F5344CB8AC3E}">
        <p14:creationId xmlns:p14="http://schemas.microsoft.com/office/powerpoint/2010/main" val="28079269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61</TotalTime>
  <Words>959</Words>
  <Application>Microsoft Office PowerPoint</Application>
  <PresentationFormat>Widescreen</PresentationFormat>
  <Paragraphs>53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Times New Roman</vt:lpstr>
      <vt:lpstr>Tw Cen MT</vt:lpstr>
      <vt:lpstr>Circuit</vt:lpstr>
      <vt:lpstr>Deepfake Detection Model</vt:lpstr>
      <vt:lpstr>Introduction to Deepfake Detection</vt:lpstr>
      <vt:lpstr>Data Collection</vt:lpstr>
      <vt:lpstr>Model Architecture</vt:lpstr>
      <vt:lpstr>Data Splitting and Model Training</vt:lpstr>
      <vt:lpstr>Hyperparameter Tuning </vt:lpstr>
      <vt:lpstr>Model Training and Data Augmentation.</vt:lpstr>
      <vt:lpstr>Model evaluation </vt:lpstr>
      <vt:lpstr>Performance Metrics</vt:lpstr>
      <vt:lpstr>Recommendations for Improvement</vt:lpstr>
      <vt:lpstr>Convolutional Neural Network Layers</vt:lpstr>
      <vt:lpstr>Dense and Dropout Layers</vt:lpstr>
      <vt:lpstr>Model Optimization Techniques 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Deepfake Detection Model</dc:title>
  <dc:creator>Mathew Kaunda</dc:creator>
  <cp:lastModifiedBy>sagarika patha</cp:lastModifiedBy>
  <cp:revision>2</cp:revision>
  <dcterms:created xsi:type="dcterms:W3CDTF">2024-04-27T20:35:04Z</dcterms:created>
  <dcterms:modified xsi:type="dcterms:W3CDTF">2024-04-29T02:06:32Z</dcterms:modified>
</cp:coreProperties>
</file>